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22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91FF"/>
                </a:solidFill>
              </a:rPr>
              <a:t>ЕГЭ по информатике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</a:rPr>
              <a:t>3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274320" y="26060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91FF"/>
                </a:solidFill>
              </a:rPr>
              <a:t>Базы данных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B91FF"/>
                </a:solidFill>
              </a:rPr>
              <a:t>LibreOffice Calc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2560320" cy="347472"/>
          </a:xfrm>
          <a:prstGeom prst="roundRect">
            <a:avLst>
              <a:gd name="adj" fmla="val 23684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03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ВПР · АГРЕГАТ · Фильтры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0" y="594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1FF"/>
                </a:solidFill>
              </a:rPr>
              <a:t>Что проверяется?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100584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Работа с реляционной базой данных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Три таблицы: Движение товаров, Товар, Магазин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Функции LibreOffice Calc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C040"/>
                </a:solidFill>
              </a:rPr>
              <a:t>Два типа вопросов: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2880360"/>
            <a:ext cx="5029200" cy="658368"/>
          </a:xfrm>
          <a:prstGeom prst="rect">
            <a:avLst/>
          </a:prstGeom>
          <a:solidFill>
            <a:srgbClr val="0F2133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2880360"/>
            <a:ext cx="64008" cy="65836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297180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1FF"/>
                </a:solidFill>
              </a:rPr>
              <a:t>Тип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77640" y="322783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2A6"/>
                </a:solidFill>
              </a:rPr>
              <a:t>Найти итоговую сумму / вес / объём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3657600"/>
            <a:ext cx="5029200" cy="658368"/>
          </a:xfrm>
          <a:prstGeom prst="rect">
            <a:avLst/>
          </a:prstGeom>
          <a:solidFill>
            <a:srgbClr val="0F2133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3657600"/>
            <a:ext cx="64008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37490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</a:rPr>
              <a:t>Тип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77640" y="400507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2A6"/>
                </a:solidFill>
              </a:rPr>
              <a:t>Найти изменение количества (разность)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Теория — БД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Структура базы данных задания 3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94360"/>
            <a:ext cx="8595360" cy="2057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2761488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2761488"/>
            <a:ext cx="64008" cy="420624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277977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ID (ключ) — уникальный идентификатор каждой записи. Связь через ключи: Артикул и ID магазина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3291840"/>
            <a:ext cx="8595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33832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1FF"/>
                </a:solidFill>
              </a:rPr>
              <a:t>Таблица: 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554480" y="3383280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Набор записей (строк) с одинаковыми полями (столбцами)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3749040"/>
            <a:ext cx="8595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38404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1FF"/>
                </a:solidFill>
              </a:rPr>
              <a:t>Запись: 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554480" y="3840480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Строка таблицы — одна сущность (один товар, магазин, операция)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4206240"/>
            <a:ext cx="8595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1FF"/>
                </a:solidFill>
              </a:rPr>
              <a:t>Ключ (ID): 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554480" y="4297680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Уникальный идентификатор записи — основа связей между таблицами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4663440"/>
            <a:ext cx="8595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" y="47548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1FF"/>
                </a:solidFill>
              </a:rPr>
              <a:t>ВПР():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554480" y="4754880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Функция для переноса данных из одной таблицы в другую по ключу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Функция ВПР()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233"/>
                </a:solidFill>
              </a:rPr>
              <a:t>ВПР() — перенос данных между таблицами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94360"/>
            <a:ext cx="8595360" cy="1508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2212848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2212848"/>
            <a:ext cx="64008" cy="42062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223113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Нажми F4 после выделения диапазона — он закрепится знаками $. Иначе при протягивании диапазон сместится!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2715768"/>
            <a:ext cx="4297680" cy="233172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38912" y="2807208"/>
            <a:ext cx="396849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Название товара по артикулу (столбец D):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=ВПР(D2; Товар.$A$2:$F$61; 3; 0)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Район магазина по ID (столбец C):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=ВПР(C2; Магазин.$A$2:$C$19; 2; 0)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Цена товара (6-й столбец таблицы Товар):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=ВПР(D2; Товар.$A$2:$F$61; 6; 0)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Стоимость = Количество × Цена: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=E2 * I2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63440" y="2715768"/>
            <a:ext cx="4206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2715768"/>
            <a:ext cx="420624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73168" y="275234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Порядок столбцов таблицы Товар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00600" y="313639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C040"/>
                </a:solidFill>
              </a:rPr>
              <a:t>1 — Артикул (ключ)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00600" y="3465576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2 — Тип товара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00600" y="379476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3 — Наименование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00600" y="412394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4 — Ед. измерения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800600" y="4453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5 — Кол-во в упаковке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00600" y="478231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C040"/>
                </a:solidFill>
              </a:rPr>
              <a:t>6 — Цена (руб.)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Функции Calc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Ключевые функции для задания 3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94360"/>
            <a:ext cx="8595360" cy="1508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2212848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2212848"/>
            <a:ext cx="64008" cy="42062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223113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КРИТИЧЕСКИ ВАЖНО: фильтр скрывает строки, но СУММ() и СЧЁТ() их всё равно считают! Используй АГРЕГАТ(9;1;...)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2715768"/>
            <a:ext cx="8595360" cy="233172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38912" y="2807208"/>
            <a:ext cx="826617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АГРЕГАТ — главная функция для подсчёта только видимых строк: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=АГРЕГАТ(9; 1; J2:J5000)    # 9=СУММ, 1=игнорировать скрытые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ЕСЛИ — разделить поступления и продажи: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=ЕСЛИ(F2="Поступление"; E2; 0)   # столбец Поступило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=ЕСЛИ(F2="Продажа"; E2; 0)       # столбец Продано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СЧЁТЕСЛИ и СУММЕСЛИ (для рейтинга / статистики):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=СЧЁТЕСЛИ($E$3:$E$10; A2)         # кол-во оценок ученика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=СУММЕСЛИ($E$3:$E$10; A2; $D$3:$D$10)  # сумма оценок ученика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Алгоритм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3"/>
                </a:solidFill>
              </a:rPr>
              <a:t>Универсальный алгоритм решения задания 3</a:t>
            </a:r>
            <a:endParaRPr lang="en-US" sz="1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94360"/>
            <a:ext cx="8595360" cy="146304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48840"/>
            <a:ext cx="8595360" cy="1417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3657600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74320" y="3657600"/>
            <a:ext cx="64008" cy="420624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38912" y="367588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Используй 2-й путь (ВПР → понятные названия), а не запоминание артикулов/ID — надёжнее!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68680" y="4187952"/>
            <a:ext cx="402336" cy="402336"/>
          </a:xfrm>
          <a:prstGeom prst="ellipse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68680" y="4187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28600" y="46634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Открыть файл и изучить таблицы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606040" y="4187952"/>
            <a:ext cx="402336" cy="40233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606040" y="4187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965960" y="46634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ВПР: Товар, Район, Цена → Стоимость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343400" y="4187952"/>
            <a:ext cx="402336" cy="402336"/>
          </a:xfrm>
          <a:prstGeom prst="ellipse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43400" y="4187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703320" y="46634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Автофильтры: дата, тип, товар, район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080760" y="4187952"/>
            <a:ext cx="402336" cy="402336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080760" y="4187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440680" y="46634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АГРЕГАТ(9;1; диапазон)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7818120" y="4187952"/>
            <a:ext cx="402336" cy="402336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818120" y="4187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±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178040" y="46634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Тип 2: Поступило − Продано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Тип 1 — Итог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233"/>
                </a:solidFill>
              </a:rPr>
              <a:t>Тип 1 — Итоговая сумма / вес / объём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64008" cy="420624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126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Подсчёт общего количества → АГРЕГАТ(9;1; столбец_Стоимости)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8595360" cy="38862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1234440"/>
            <a:ext cx="826617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Задание 313: сумма продаж варенца (Нагорный, 5-14 октября)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ВПР: Товар(G), Район(H), Цена(I)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Стоимость = E2 * I2  → столбец J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Фильтры: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Дата: 07, 09, 10, 14 октября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Тип: Продажа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Товар: Варенец термостатный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Район: Нагорный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=АГРЕГАТ(9;1; J1092:J3720)  → 133228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Задание 303: объём шампуней (л) на Тургеневской, 3-22 сент.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Объём(л) = Кол-во_в_упак * Кол-во_шт / 1000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=АГРЕГАТ(9;1; K:K) → 1501.8 → целая часть: 1501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Тип 2 — Разность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233"/>
                </a:solidFill>
              </a:rPr>
              <a:t>Тип 2 — Изменение (Поступило − Продано)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64008" cy="42062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126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Добавляем ДВА столбца: Поступило и Продано через ЕСЛИ(). Разность = Поступило − Продано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8595360" cy="38862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1234440"/>
            <a:ext cx="826617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Задание 305: увеличение запаса клюквы (Прибрежный, 8-17 авг.)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ВПР: Товар(G), Район(H)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Фильтры: даты | Клюква в сахаре | Прибрежный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Столбец Поступило (I):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=ЕСЛИ(F1275="Поступление"; E1275; 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Столбец Продано (J):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=ЕСЛИ(F1275="Продажа"; E1275; 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АГРЕГАТ(9;1; I:I) = 2100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АГРЕГАТ(9;1; J:J) = 660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6. Ответ = 2100 - 660 = 1440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Задание 307: йогурты (3 вида) в Нагорном, 1-15 октября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АГРЕГАТ(поступило)=11400  АГРЕГАТ(продано)=5254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Ответ = 11400 - 5254 = 6146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Шпаргалка — задание 3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82880" y="658368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658368"/>
            <a:ext cx="4251960" cy="347472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7223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ВПР — шаблоны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11155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Название товара: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048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=ВПР(D2;Товар.$A$2:$F$61;3;0)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7190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Район магазина: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20208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=ВПР(C2;Магазин.$A$2:$C$19;2;0)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3225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Цена: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624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=ВПР(D2;Товар.$A$2:$F$61;6;0)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658368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658368"/>
            <a:ext cx="425196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7223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АГРЕГАТ — главная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11155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=АГРЕГАТ(9; 1; диапазон)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64608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= СУММ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64608" y="17190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= игнорировать скрытые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64608" y="20208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64608" y="23225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Не СУММ() — не видит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64608" y="2624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скрытые фильтром строки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2880" y="2962656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2962656"/>
            <a:ext cx="4251960" cy="347472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" y="302666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Тип 1 — алгоритм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" y="34198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ВПР(Товар,Район,Цена)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4048" y="37216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Стоимость = Кол×Цена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4048" y="4023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Фильтры: дата,тип,товар,район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4048" y="43251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АГРЕГАТ(Стоимость) → ответ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2962656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2962656"/>
            <a:ext cx="4251960" cy="34747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302666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Тип 2 — алгоритм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34198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ВПР(Товар, Район)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64608" y="37216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Фильтры те же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64608" y="4023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ЕСЛИ(«Поступление»;E;0) → I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64608" y="43251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ЕСЛИ(«Продажа»;E;0) → J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64608" y="46268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Ответ = АГРЕГАТ(I)−АГРЕГАТ(J)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91FF"/>
                </a:solidFill>
              </a:rPr>
              <a:t>Задание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Успехов на ЕГЭ!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492A6"/>
                </a:solidFill>
              </a:rPr>
              <a:t>ВПР · Фильтры · АГРЕГАТ · Поступило − Продано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2514600"/>
            <a:ext cx="420624" cy="420624"/>
          </a:xfrm>
          <a:prstGeom prst="ellipse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Открой и изучи 3 таблицы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2514600"/>
            <a:ext cx="420624" cy="420624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ВПР: Товар, Район, Цена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94960" y="2514600"/>
            <a:ext cx="420624" cy="420624"/>
          </a:xfrm>
          <a:prstGeom prst="ellipse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Фильтры по условию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0" y="2514600"/>
            <a:ext cx="420624" cy="420624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АГРЕГАТ → ответ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2026-04-04T21:38:42Z</dcterms:created>
  <dcterms:modified xsi:type="dcterms:W3CDTF">2026-04-04T21:38:42Z</dcterms:modified>
</cp:coreProperties>
</file>